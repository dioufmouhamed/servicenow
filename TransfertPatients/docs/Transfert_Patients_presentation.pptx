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Lits occupés</c:v>
                </c:pt>
              </c:strCache>
            </c:strRef>
          </c:tx>
          <c:spPr>
            <a:solidFill>
              <a:srgbClr val="C9D8D5"/>
            </a:solidFill>
          </c:spPr>
          <c:cat>
            <c:strRef>
              <c:f>Sheet1!$A$2:$A$8</c:f>
              <c:strCache>
                <c:ptCount val="7"/>
                <c:pt idx="0">
                  <c:v>CHNU de Fann</c:v>
                </c:pt>
                <c:pt idx="1">
                  <c:v>Hôpital Principal</c:v>
                </c:pt>
                <c:pt idx="2">
                  <c:v>Albert Royer</c:v>
                </c:pt>
                <c:pt idx="3">
                  <c:v>Idrissa Pouye</c:v>
                </c:pt>
                <c:pt idx="4">
                  <c:v>Abass Ndao</c:v>
                </c:pt>
                <c:pt idx="5">
                  <c:v>Dalal Jamm</c:v>
                </c:pt>
                <c:pt idx="6">
                  <c:v>La Madeleine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130</c:v>
                </c:pt>
                <c:pt idx="1">
                  <c:v>109</c:v>
                </c:pt>
                <c:pt idx="2">
                  <c:v>74</c:v>
                </c:pt>
                <c:pt idx="3">
                  <c:v>65</c:v>
                </c:pt>
                <c:pt idx="4">
                  <c:v>56</c:v>
                </c:pt>
                <c:pt idx="5">
                  <c:v>67</c:v>
                </c:pt>
                <c:pt idx="6">
                  <c:v>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Lits disponibles</c:v>
                </c:pt>
              </c:strCache>
            </c:strRef>
          </c:tx>
          <c:spPr>
            <a:solidFill>
              <a:srgbClr val="0B5D57"/>
            </a:solidFill>
          </c:spPr>
          <c:dLbls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CHNU de Fann</c:v>
                </c:pt>
                <c:pt idx="1">
                  <c:v>Hôpital Principal</c:v>
                </c:pt>
                <c:pt idx="2">
                  <c:v>Albert Royer</c:v>
                </c:pt>
                <c:pt idx="3">
                  <c:v>Idrissa Pouye</c:v>
                </c:pt>
                <c:pt idx="4">
                  <c:v>Abass Ndao</c:v>
                </c:pt>
                <c:pt idx="5">
                  <c:v>Dalal Jamm</c:v>
                </c:pt>
                <c:pt idx="6">
                  <c:v>La Madeleine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</c:v>
                </c:pt>
                <c:pt idx="1">
                  <c:v>23</c:v>
                </c:pt>
                <c:pt idx="2">
                  <c:v>9</c:v>
                </c:pt>
                <c:pt idx="3">
                  <c:v>12</c:v>
                </c:pt>
                <c:pt idx="4">
                  <c:v>14</c:v>
                </c:pt>
                <c:pt idx="5">
                  <c:v>8</c:v>
                </c:pt>
                <c:pt idx="6">
                  <c:v>9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8D5"/>
            </a:solidFill>
          </a:ln>
        </c:spPr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CE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A6B6F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Présentation de la solution Transfert Patients : objectif, processus, architecture ServiceNow et FSM, sécurité, démonstration et feuille de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temps : publication ciblée, décision libre de chaque établissement, transport OOTB FSM.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Préciser à l'oral que les capacités sont fictives : aucune donnée réelle de disponibilité.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1097280"/>
            <a:ext cx="822960" cy="822960"/>
          </a:xfrm>
          <a:prstGeom prst="ellipse">
            <a:avLst/>
          </a:prstGeom>
          <a:solidFill>
            <a:srgbClr val="E3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600" b="1">
                <a:solidFill>
                  <a:srgbClr val="083F3B"/>
                </a:solidFill>
                <a:latin typeface="Calibri"/>
              </a:rPr>
              <a:t>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402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Transfert Patients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CFE6E2"/>
                </a:solidFill>
                <a:latin typeface="Calibri"/>
              </a:rPr>
              <a:t>Transferts inter-établissements de patients sur ServiceNow, avec Field Service Management — région de Dakar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CC5BF"/>
                </a:solidFill>
                <a:latin typeface="Calibri"/>
              </a:rPr>
              <a:t>Application scopée x_2218203_ptrans · PDI dev408543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CC5BF"/>
                </a:solidFill>
                <a:latin typeface="Calibri"/>
              </a:rPr>
              <a:t>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LE BESOIN ET LA RÉPONSE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B2E"/>
                </a:solidFill>
                <a:latin typeface="Cambria"/>
              </a:rPr>
              <a:t>Un établissement publie, les autres décident, FSM transporte</a:t>
            </a:r>
          </a:p>
        </p:txBody>
      </p:sp>
      <p:sp>
        <p:nvSpPr>
          <p:cNvPr id="4" name="Numéro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2</a:t>
            </a:r>
          </a:p>
        </p:txBody>
      </p:sp>
      <p:sp>
        <p:nvSpPr>
          <p:cNvPr id="5" name="Carte Publier"/>
          <p:cNvSpPr/>
          <p:nvPr/>
        </p:nvSpPr>
        <p:spPr>
          <a:xfrm>
            <a:off x="548640" y="1828800"/>
            <a:ext cx="3474720" cy="393192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83F3B"/>
                </a:solidFill>
                <a:latin typeface="Cambria"/>
              </a:rPr>
              <a:t>Publier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8346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Le régulateur décrit le besoin du patient. La demande part seulement aux établissements qui ont la spécialité, un lit libre et les équipements requis.</a:t>
            </a:r>
          </a:p>
        </p:txBody>
      </p:sp>
      <p:sp>
        <p:nvSpPr>
          <p:cNvPr id="9" name="Carte Décider librement"/>
          <p:cNvSpPr/>
          <p:nvPr/>
        </p:nvSpPr>
        <p:spPr>
          <a:xfrm>
            <a:off x="4297679" y="1828800"/>
            <a:ext cx="3474720" cy="393192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7719" y="2148840"/>
            <a:ext cx="457200" cy="45720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8346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83F3B"/>
                </a:solidFill>
                <a:latin typeface="Cambria"/>
              </a:rPr>
              <a:t>Décider librement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3429000"/>
            <a:ext cx="28346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Chaque établissement accepte (en proposant un service) ou refuse (avec un motif). Le régulateur choisit parmi les acceptations.</a:t>
            </a:r>
          </a:p>
        </p:txBody>
      </p:sp>
      <p:sp>
        <p:nvSpPr>
          <p:cNvPr id="13" name="Carte Transporter"/>
          <p:cNvSpPr/>
          <p:nvPr/>
        </p:nvSpPr>
        <p:spPr>
          <a:xfrm>
            <a:off x="8046719" y="1828800"/>
            <a:ext cx="3474720" cy="393192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66759" y="2148840"/>
            <a:ext cx="457200" cy="45720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83464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083F3B"/>
                </a:solidFill>
                <a:latin typeface="Cambria"/>
              </a:rPr>
              <a:t>Transporter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429000"/>
            <a:ext cx="28346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Le choix réserve un lit et crée un Work Order Field Service : qualification, dispatch par zone, exécution par l'équipage.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EN CHIFFRES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B2E"/>
                </a:solidFill>
                <a:latin typeface="Cambria"/>
              </a:rPr>
              <a:t>Une application légère posée sur des briques standard</a:t>
            </a:r>
          </a:p>
        </p:txBody>
      </p:sp>
      <p:sp>
        <p:nvSpPr>
          <p:cNvPr id="4" name="Numéro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0B5D57"/>
                </a:solidFill>
                <a:latin typeface="Cambria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B2E"/>
                </a:solidFill>
                <a:latin typeface="Calibri"/>
              </a:rPr>
              <a:t>tables spécifiques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B6F"/>
                </a:solidFill>
                <a:latin typeface="Calibri"/>
              </a:rPr>
              <a:t>le reste est OOTB : localisations, assets, FSM, groupes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01168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0B5D57"/>
                </a:solidFill>
                <a:latin typeface="Cambria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2918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B2E"/>
                </a:solidFill>
                <a:latin typeface="Calibri"/>
              </a:rPr>
              <a:t>Business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79476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B6F"/>
                </a:solidFill>
                <a:latin typeface="Calibri"/>
              </a:rPr>
              <a:t>+ 1 Script Include et 5 boutons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0B5D57"/>
                </a:solidFill>
                <a:latin typeface="Cambria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918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B2E"/>
                </a:solidFill>
                <a:latin typeface="Calibri"/>
              </a:rPr>
              <a:t>hôpitaux de Dakar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79476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B6F"/>
                </a:solidFill>
                <a:latin typeface="Calibri"/>
              </a:rPr>
              <a:t>dans les données de démonstration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01168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0B5D57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29184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B2E"/>
                </a:solidFill>
                <a:latin typeface="Calibri"/>
              </a:rPr>
              <a:t>zones de dispatch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79476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B6F"/>
                </a:solidFill>
                <a:latin typeface="Calibri"/>
              </a:rPr>
              <a:t>Plateau-Médina, Fann-Grand Yoff, Pikine-Guédiawaye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083F3B"/>
                </a:solidFill>
                <a:latin typeface="Calibri"/>
              </a:rPr>
              <a:t>Principe : FSM reste intact. Les Work Orders avancent uniquement par les State Flows OOTB, selon la configuration de l'instance.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PROCESSUS MÉTIER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B2E"/>
                </a:solidFill>
                <a:latin typeface="Cambria"/>
              </a:rPr>
              <a:t>Six étapes de la création à l'arrivée du patient</a:t>
            </a:r>
          </a:p>
        </p:txBody>
      </p:sp>
      <p:sp>
        <p:nvSpPr>
          <p:cNvPr id="4" name="Numéro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4</a:t>
            </a:r>
          </a:p>
        </p:txBody>
      </p:sp>
      <p:sp>
        <p:nvSpPr>
          <p:cNvPr id="5" name="Étape 1"/>
          <p:cNvSpPr/>
          <p:nvPr/>
        </p:nvSpPr>
        <p:spPr>
          <a:xfrm>
            <a:off x="548640" y="2103120"/>
            <a:ext cx="1691640" cy="1005840"/>
          </a:xfrm>
          <a:prstGeom prst="homePlate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03120"/>
            <a:ext cx="1234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83F3B"/>
                </a:solidFill>
                <a:latin typeface="Calibri"/>
              </a:rPr>
              <a:t>Brouillon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3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Le régulateur saisit la demande</a:t>
            </a:r>
          </a:p>
        </p:txBody>
      </p:sp>
      <p:sp>
        <p:nvSpPr>
          <p:cNvPr id="8" name="Étape 2"/>
          <p:cNvSpPr/>
          <p:nvPr/>
        </p:nvSpPr>
        <p:spPr>
          <a:xfrm>
            <a:off x="2423160" y="2103120"/>
            <a:ext cx="1691640" cy="1005840"/>
          </a:xfrm>
          <a:prstGeom prst="chevron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103120"/>
            <a:ext cx="1234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83F3B"/>
                </a:solidFill>
                <a:latin typeface="Calibri"/>
              </a:rPr>
              <a:t>Publiée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329183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Réponses créées pour les éligibles</a:t>
            </a:r>
          </a:p>
        </p:txBody>
      </p:sp>
      <p:sp>
        <p:nvSpPr>
          <p:cNvPr id="11" name="Étape 3"/>
          <p:cNvSpPr/>
          <p:nvPr/>
        </p:nvSpPr>
        <p:spPr>
          <a:xfrm>
            <a:off x="4297680" y="2103120"/>
            <a:ext cx="1691640" cy="1005840"/>
          </a:xfrm>
          <a:prstGeom prst="chevron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1234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83F3B"/>
                </a:solidFill>
                <a:latin typeface="Calibri"/>
              </a:rPr>
              <a:t>Réponses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9183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Accepter avec un service ou refuser avec un motif</a:t>
            </a:r>
          </a:p>
        </p:txBody>
      </p:sp>
      <p:sp>
        <p:nvSpPr>
          <p:cNvPr id="14" name="Étape 4"/>
          <p:cNvSpPr/>
          <p:nvPr/>
        </p:nvSpPr>
        <p:spPr>
          <a:xfrm>
            <a:off x="6172200" y="2103120"/>
            <a:ext cx="1691640" cy="1005840"/>
          </a:xfrm>
          <a:prstGeom prst="chevron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103120"/>
            <a:ext cx="1234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83F3B"/>
                </a:solidFill>
                <a:latin typeface="Calibri"/>
              </a:rPr>
              <a:t>Destination retenue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329183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Lit réservé, autres notifiés</a:t>
            </a:r>
          </a:p>
        </p:txBody>
      </p:sp>
      <p:sp>
        <p:nvSpPr>
          <p:cNvPr id="17" name="Étape 5"/>
          <p:cNvSpPr/>
          <p:nvPr/>
        </p:nvSpPr>
        <p:spPr>
          <a:xfrm>
            <a:off x="8046720" y="2103120"/>
            <a:ext cx="1691640" cy="1005840"/>
          </a:xfrm>
          <a:prstGeom prst="chevron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103120"/>
            <a:ext cx="1234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83F3B"/>
                </a:solidFill>
                <a:latin typeface="Calibri"/>
              </a:rPr>
              <a:t>Transport planifié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29183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Work Order FSM créé</a:t>
            </a:r>
          </a:p>
        </p:txBody>
      </p:sp>
      <p:sp>
        <p:nvSpPr>
          <p:cNvPr id="20" name="Étape 6"/>
          <p:cNvSpPr/>
          <p:nvPr/>
        </p:nvSpPr>
        <p:spPr>
          <a:xfrm>
            <a:off x="9921240" y="2103120"/>
            <a:ext cx="1691640" cy="1005840"/>
          </a:xfrm>
          <a:prstGeom prst="chevron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5560" y="2103120"/>
            <a:ext cx="12344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Arrivé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3291839"/>
            <a:ext cx="1508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WO clôturé, demande clôturée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8056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61772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A5A12"/>
                </a:solidFill>
                <a:latin typeface="Calibri"/>
              </a:rPr>
              <a:t>Expiration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Sans acceptation avant la date limite (30 min, 2 h ou 24 h selon l'urgence), le job planifié passe la demande en Expirée.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48056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61772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Annulation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Possible en Brouillon, Publiée ou Destination retenue. Les réponses ouvertes sont clôturées.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RÈGLE D'ÉLIGIBILITÉ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B2E"/>
                </a:solidFill>
                <a:latin typeface="Cambria"/>
              </a:rPr>
              <a:t>Seuls les établissements capables de soigner reçoivent la demande</a:t>
            </a:r>
          </a:p>
        </p:txBody>
      </p:sp>
      <p:sp>
        <p:nvSpPr>
          <p:cNvPr id="4" name="Numéro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5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6479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B2E"/>
                </a:solidFill>
                <a:latin typeface="Calibri"/>
              </a:rPr>
              <a:t>Actif et ouvert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B6F"/>
                </a:solidFill>
                <a:latin typeface="Calibri"/>
              </a:rPr>
              <a:t>L'établissement est actif et accepte les transferts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34639"/>
            <a:ext cx="457200" cy="45720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16351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B2E"/>
                </a:solidFill>
                <a:latin typeface="Calibri"/>
              </a:rPr>
              <a:t>Pas l'origine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00399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B6F"/>
                </a:solidFill>
                <a:latin typeface="Calibri"/>
              </a:rPr>
              <a:t>L'établissement d'origine est exclu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6791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B2E"/>
                </a:solidFill>
                <a:latin typeface="Calibri"/>
              </a:rPr>
              <a:t>Spécialité et 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2519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B6F"/>
                </a:solidFill>
                <a:latin typeface="Calibri"/>
              </a:rPr>
              <a:t>Un service actif de la spécialité requise a au moins 1 lit libre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937759"/>
            <a:ext cx="457200" cy="457200"/>
          </a:xfrm>
          <a:prstGeom prst="ellipse">
            <a:avLst/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9194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E2B2E"/>
                </a:solidFill>
                <a:latin typeface="Calibri"/>
              </a:rPr>
              <a:t>Équipements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035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B6F"/>
                </a:solidFill>
                <a:latin typeface="Calibri"/>
              </a:rPr>
              <a:t>Chaque équipement requis existe sur place (asset en service ou en stock)</a:t>
            </a:r>
          </a:p>
        </p:txBody>
      </p:sp>
      <p:sp>
        <p:nvSpPr>
          <p:cNvPr id="17" name="Exemple"/>
          <p:cNvSpPr/>
          <p:nvPr/>
        </p:nvSpPr>
        <p:spPr>
          <a:xfrm>
            <a:off x="6583680" y="1783080"/>
            <a:ext cx="5029200" cy="416052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011680"/>
            <a:ext cx="44805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83F3B"/>
                </a:solidFill>
                <a:latin typeface="Cambria"/>
              </a:rPr>
              <a:t>Exemple : TRF0001013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Origine : Hôpital Dalal Jamm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Besoin : pédiatrie, soins continus, moniteur</a:t>
            </a:r>
          </a:p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E2B2E"/>
                </a:solidFill>
                <a:latin typeface="Calibri"/>
              </a:rPr>
              <a:t>Résultat : publiée à 1 établissement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Hôpital d'Enfants Albert Royer, service Pédiatrie (6 lits libres).</a:t>
            </a:r>
          </a:p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5A6B6F"/>
                </a:solidFill>
                <a:latin typeface="Calibri"/>
              </a:rPr>
              <a:t>Le service proposé est celui qui a le plus de lits libres.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RÔLES ET PERSONAS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B2E"/>
                </a:solidFill>
                <a:latin typeface="Cambria"/>
              </a:rPr>
              <a:t>Six profils, trois rôles applicatifs et trois rôles FSM</a:t>
            </a:r>
          </a:p>
        </p:txBody>
      </p:sp>
      <p:sp>
        <p:nvSpPr>
          <p:cNvPr id="4" name="Numéro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6</a:t>
            </a:r>
          </a:p>
        </p:txBody>
      </p:sp>
      <p:sp>
        <p:nvSpPr>
          <p:cNvPr id="5" name="Rôle Régulateur"/>
          <p:cNvSpPr/>
          <p:nvPr/>
        </p:nvSpPr>
        <p:spPr>
          <a:xfrm>
            <a:off x="548640" y="178308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83F3B"/>
                </a:solidFill>
                <a:latin typeface="Calibri"/>
              </a:rPr>
              <a:t>Régulateur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688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Crée, publie, retient la destination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2461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B6F"/>
                </a:solidFill>
                <a:latin typeface="Calibri"/>
              </a:rPr>
              <a:t>reg.demo</a:t>
            </a:r>
          </a:p>
        </p:txBody>
      </p:sp>
      <p:sp>
        <p:nvSpPr>
          <p:cNvPr id="9" name="Rôle Coordinateur"/>
          <p:cNvSpPr/>
          <p:nvPr/>
        </p:nvSpPr>
        <p:spPr>
          <a:xfrm>
            <a:off x="4297679" y="178308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01168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83F3B"/>
                </a:solidFill>
                <a:latin typeface="Calibri"/>
              </a:rPr>
              <a:t>Coordinateur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4688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Gère les lits, accepte ou refuse pour son établissement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32461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B6F"/>
                </a:solidFill>
                <a:latin typeface="Calibri"/>
              </a:rPr>
              <a:t>coord.fann, coord.principal…</a:t>
            </a:r>
          </a:p>
        </p:txBody>
      </p:sp>
      <p:sp>
        <p:nvSpPr>
          <p:cNvPr id="13" name="Rôle Admin fonctionnel"/>
          <p:cNvSpPr/>
          <p:nvPr/>
        </p:nvSpPr>
        <p:spPr>
          <a:xfrm>
            <a:off x="8046719" y="178308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83F3B"/>
                </a:solidFill>
                <a:latin typeface="Calibri"/>
              </a:rPr>
              <a:t>Admin fonctionnel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Gère établissements, services, spécialités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2461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B6F"/>
                </a:solidFill>
                <a:latin typeface="Calibri"/>
              </a:rPr>
              <a:t>rôle x_2218203_ptrans.admin</a:t>
            </a:r>
          </a:p>
        </p:txBody>
      </p:sp>
      <p:sp>
        <p:nvSpPr>
          <p:cNvPr id="17" name="Rôle Qualificateur FSM"/>
          <p:cNvSpPr/>
          <p:nvPr/>
        </p:nvSpPr>
        <p:spPr>
          <a:xfrm>
            <a:off x="548640" y="393192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16052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83F3B"/>
                </a:solidFill>
                <a:latin typeface="Calibri"/>
              </a:rPr>
              <a:t>Qualificateur FSM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6177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Qualifie les ordres de transport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394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B6F"/>
                </a:solidFill>
                <a:latin typeface="Calibri"/>
              </a:rPr>
              <a:t>wm_qualifier</a:t>
            </a:r>
          </a:p>
        </p:txBody>
      </p:sp>
      <p:sp>
        <p:nvSpPr>
          <p:cNvPr id="21" name="Rôle Dispatcher FSM"/>
          <p:cNvSpPr/>
          <p:nvPr/>
        </p:nvSpPr>
        <p:spPr>
          <a:xfrm>
            <a:off x="4297679" y="393192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416052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83F3B"/>
                </a:solidFill>
                <a:latin typeface="Calibri"/>
              </a:rPr>
              <a:t>Dispatcher FSM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46177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Affecte les tâches aux équipages de sa zone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5394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B6F"/>
                </a:solidFill>
                <a:latin typeface="Calibri"/>
              </a:rPr>
              <a:t>disp.plateau, disp.fann…</a:t>
            </a:r>
          </a:p>
        </p:txBody>
      </p:sp>
      <p:sp>
        <p:nvSpPr>
          <p:cNvPr id="25" name="Rôle Ambulancier"/>
          <p:cNvSpPr/>
          <p:nvPr/>
        </p:nvSpPr>
        <p:spPr>
          <a:xfrm>
            <a:off x="8046719" y="3931920"/>
            <a:ext cx="3474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16052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83F3B"/>
                </a:solidFill>
                <a:latin typeface="Calibri"/>
              </a:rPr>
              <a:t>Ambulancier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17720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Exécute les tâches, y compris sur mobile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394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B6F"/>
                </a:solidFill>
                <a:latin typeface="Calibri"/>
              </a:rPr>
              <a:t>wm_agent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6F"/>
                </a:solidFill>
                <a:latin typeface="Calibri"/>
              </a:rPr>
              <a:t>Fond teinté : rôles de l'application · fond blanc : rôles Field Service Management standard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MODÈLE DE DONNÉES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B2E"/>
                </a:solidFill>
                <a:latin typeface="Cambria"/>
              </a:rPr>
              <a:t>Cinq tables spécifiques, reliées aux tables standard</a:t>
            </a:r>
          </a:p>
        </p:txBody>
      </p:sp>
      <p:sp>
        <p:nvSpPr>
          <p:cNvPr id="4" name="Numéro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7</a:t>
            </a:r>
          </a:p>
        </p:txBody>
      </p:sp>
      <p:sp>
        <p:nvSpPr>
          <p:cNvPr id="5" name="Table Spécialité"/>
          <p:cNvSpPr/>
          <p:nvPr/>
        </p:nvSpPr>
        <p:spPr>
          <a:xfrm>
            <a:off x="548640" y="182880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83F3B"/>
                </a:solidFill>
                <a:latin typeface="Calibri"/>
              </a:rPr>
              <a:t>Spécialité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6F"/>
                </a:solidFill>
                <a:latin typeface="Calibri"/>
              </a:rPr>
              <a:t>référentiel</a:t>
            </a:r>
          </a:p>
        </p:txBody>
      </p:sp>
      <p:sp>
        <p:nvSpPr>
          <p:cNvPr id="8" name="Table Service"/>
          <p:cNvSpPr/>
          <p:nvPr/>
        </p:nvSpPr>
        <p:spPr>
          <a:xfrm>
            <a:off x="548640" y="324612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558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83F3B"/>
                </a:solidFill>
                <a:latin typeface="Calibri"/>
              </a:rPr>
              <a:t>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6F"/>
                </a:solidFill>
                <a:latin typeface="Calibri"/>
              </a:rPr>
              <a:t>lits totaux / disponibles</a:t>
            </a:r>
          </a:p>
        </p:txBody>
      </p:sp>
      <p:sp>
        <p:nvSpPr>
          <p:cNvPr id="11" name="Table Établissement"/>
          <p:cNvSpPr/>
          <p:nvPr/>
        </p:nvSpPr>
        <p:spPr>
          <a:xfrm>
            <a:off x="548640" y="466344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731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83F3B"/>
                </a:solidFill>
                <a:latin typeface="Calibri"/>
              </a:rPr>
              <a:t>Établissement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6F"/>
                </a:solidFill>
                <a:latin typeface="Calibri"/>
              </a:rPr>
              <a:t>capacité calculée</a:t>
            </a:r>
          </a:p>
        </p:txBody>
      </p:sp>
      <p:sp>
        <p:nvSpPr>
          <p:cNvPr id="14" name="Table Demande (TRF)"/>
          <p:cNvSpPr/>
          <p:nvPr/>
        </p:nvSpPr>
        <p:spPr>
          <a:xfrm>
            <a:off x="4709160" y="182880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9385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83F3B"/>
                </a:solidFill>
                <a:latin typeface="Calibri"/>
              </a:rPr>
              <a:t>Demande (TRF)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6F"/>
                </a:solidFill>
                <a:latin typeface="Calibri"/>
              </a:rPr>
              <a:t>étend task · 8 états</a:t>
            </a:r>
          </a:p>
        </p:txBody>
      </p:sp>
      <p:sp>
        <p:nvSpPr>
          <p:cNvPr id="17" name="Table Réponse (REP)"/>
          <p:cNvSpPr/>
          <p:nvPr/>
        </p:nvSpPr>
        <p:spPr>
          <a:xfrm>
            <a:off x="4709160" y="324612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3558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83F3B"/>
                </a:solidFill>
                <a:latin typeface="Calibri"/>
              </a:rPr>
              <a:t>Réponse (REP)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703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6F"/>
                </a:solidFill>
                <a:latin typeface="Calibri"/>
              </a:rPr>
              <a:t>décision par établissement</a:t>
            </a:r>
          </a:p>
        </p:txBody>
      </p:sp>
      <p:sp>
        <p:nvSpPr>
          <p:cNvPr id="20" name="Table wm_order / wm_task"/>
          <p:cNvSpPr/>
          <p:nvPr/>
        </p:nvSpPr>
        <p:spPr>
          <a:xfrm>
            <a:off x="8869680" y="182880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59" y="193852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A6B6F"/>
                </a:solidFill>
                <a:latin typeface="Calibri"/>
              </a:rPr>
              <a:t>wm_order / wm_task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2286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6F"/>
                </a:solidFill>
                <a:latin typeface="Calibri"/>
              </a:rPr>
              <a:t>ordre de transport FSM</a:t>
            </a:r>
          </a:p>
        </p:txBody>
      </p:sp>
      <p:sp>
        <p:nvSpPr>
          <p:cNvPr id="23" name="Table cmdb_model / alm_asset"/>
          <p:cNvSpPr/>
          <p:nvPr/>
        </p:nvSpPr>
        <p:spPr>
          <a:xfrm>
            <a:off x="8869680" y="324612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59" y="33558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A6B6F"/>
                </a:solidFill>
                <a:latin typeface="Calibri"/>
              </a:rPr>
              <a:t>cmdb_model / alm_asset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59" y="37033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6F"/>
                </a:solidFill>
                <a:latin typeface="Calibri"/>
              </a:rPr>
              <a:t>équipements médicaux</a:t>
            </a:r>
          </a:p>
        </p:txBody>
      </p:sp>
      <p:sp>
        <p:nvSpPr>
          <p:cNvPr id="26" name="Table cmn_location"/>
          <p:cNvSpPr/>
          <p:nvPr/>
        </p:nvSpPr>
        <p:spPr>
          <a:xfrm>
            <a:off x="8869680" y="4663440"/>
            <a:ext cx="27432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59" y="477316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5A6B6F"/>
                </a:solidFill>
                <a:latin typeface="Calibri"/>
              </a:rPr>
              <a:t>cmn_location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51206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6F"/>
                </a:solidFill>
                <a:latin typeface="Calibri"/>
              </a:rPr>
              <a:t>adresse, GPS, zone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920240" y="2697480"/>
            <a:ext cx="0" cy="548640"/>
          </a:xfrm>
          <a:prstGeom prst="line">
            <a:avLst/>
          </a:prstGeom>
          <a:ln w="19050">
            <a:solidFill>
              <a:srgbClr val="5A6B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20240" y="4114800"/>
            <a:ext cx="0" cy="548640"/>
          </a:xfrm>
          <a:prstGeom prst="line">
            <a:avLst/>
          </a:prstGeom>
          <a:ln w="19050">
            <a:solidFill>
              <a:srgbClr val="5A6B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080760" y="2697480"/>
            <a:ext cx="0" cy="548640"/>
          </a:xfrm>
          <a:prstGeom prst="line">
            <a:avLst/>
          </a:prstGeom>
          <a:ln w="19050">
            <a:solidFill>
              <a:srgbClr val="5A6B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3291840" y="3657600"/>
            <a:ext cx="1417320" cy="1325880"/>
          </a:xfrm>
          <a:prstGeom prst="line">
            <a:avLst/>
          </a:prstGeom>
          <a:ln w="19050">
            <a:solidFill>
              <a:srgbClr val="5A6B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452360" y="2258568"/>
            <a:ext cx="1417320" cy="0"/>
          </a:xfrm>
          <a:prstGeom prst="line">
            <a:avLst/>
          </a:prstGeom>
          <a:ln w="19050">
            <a:solidFill>
              <a:srgbClr val="5A6B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91840" y="5093208"/>
            <a:ext cx="5577840" cy="0"/>
          </a:xfrm>
          <a:prstGeom prst="line">
            <a:avLst/>
          </a:prstGeom>
          <a:ln w="19050">
            <a:solidFill>
              <a:srgbClr val="5A6B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709160" y="466344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B6F"/>
                </a:solidFill>
                <a:latin typeface="Calibri"/>
              </a:rPr>
              <a:t>Les flèches vont de la table qui porte la référence vers la table référencée. Les équipements d'un établissement sont les assets situés à sa localisation.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INTÉGRATION FIELD SERVICE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B2E"/>
                </a:solidFill>
                <a:latin typeface="Cambria"/>
              </a:rPr>
              <a:t>Le transport est un Work Order FSM standard à trois tâches</a:t>
            </a:r>
          </a:p>
        </p:txBody>
      </p:sp>
      <p:sp>
        <p:nvSpPr>
          <p:cNvPr id="4" name="Numéro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8</a:t>
            </a:r>
          </a:p>
        </p:txBody>
      </p:sp>
      <p:sp>
        <p:nvSpPr>
          <p:cNvPr id="5" name="Work Order"/>
          <p:cNvSpPr/>
          <p:nvPr/>
        </p:nvSpPr>
        <p:spPr>
          <a:xfrm>
            <a:off x="548640" y="1828800"/>
            <a:ext cx="4937760" cy="822960"/>
          </a:xfrm>
          <a:prstGeom prst="roundRect">
            <a:avLst>
              <a:gd name="adj" fmla="val 8000"/>
            </a:avLst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Work Order · priorité selon l'urgence</a:t>
            </a:r>
          </a:p>
        </p:txBody>
      </p:sp>
      <p:sp>
        <p:nvSpPr>
          <p:cNvPr id="7" name="Tâche 1"/>
          <p:cNvSpPr/>
          <p:nvPr/>
        </p:nvSpPr>
        <p:spPr>
          <a:xfrm>
            <a:off x="1097280" y="2926080"/>
            <a:ext cx="4389120" cy="82296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0175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83F3B"/>
                </a:solidFill>
                <a:latin typeface="Calibri"/>
              </a:rPr>
              <a:t>Tâche 1 · Préparation du 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36499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B6F"/>
                </a:solidFill>
                <a:latin typeface="Calibri"/>
              </a:rPr>
              <a:t>à l'origine · identité, dossier, traitements</a:t>
            </a:r>
          </a:p>
        </p:txBody>
      </p:sp>
      <p:sp>
        <p:nvSpPr>
          <p:cNvPr id="10" name="Tâche 2"/>
          <p:cNvSpPr/>
          <p:nvPr/>
        </p:nvSpPr>
        <p:spPr>
          <a:xfrm>
            <a:off x="1097280" y="3931920"/>
            <a:ext cx="4389120" cy="82296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40233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83F3B"/>
                </a:solidFill>
                <a:latin typeface="Calibri"/>
              </a:rPr>
              <a:t>Tâche 2 ·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37083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B6F"/>
                </a:solidFill>
                <a:latin typeface="Calibri"/>
              </a:rPr>
              <a:t>départ de l'origine · détail médical</a:t>
            </a:r>
          </a:p>
        </p:txBody>
      </p:sp>
      <p:sp>
        <p:nvSpPr>
          <p:cNvPr id="13" name="Tâche 3"/>
          <p:cNvSpPr/>
          <p:nvPr/>
        </p:nvSpPr>
        <p:spPr>
          <a:xfrm>
            <a:off x="1097280" y="4937760"/>
            <a:ext cx="4389120" cy="82296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50292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83F3B"/>
                </a:solidFill>
                <a:latin typeface="Calibri"/>
              </a:rPr>
              <a:t>Tâche 3 · Remise du patient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37667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A6B6F"/>
                </a:solidFill>
                <a:latin typeface="Calibri"/>
              </a:rPr>
              <a:t>à destination · transmission et signature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828800"/>
            <a:ext cx="54864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83F3B"/>
                </a:solidFill>
                <a:latin typeface="Cambria"/>
              </a:rPr>
              <a:t>Ce que fait l'application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Elle crée l'ordre et ses tâches, puis applique le premier State Flow OOTB autorisé par la configuration FSM.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83F3B"/>
                </a:solidFill>
                <a:latin typeface="Cambria"/>
              </a:rPr>
              <a:t>Ce que fait FSM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Qualification active sur l'instance : l'ordre passe en Awaiting Qualification. FSM renseigne seul le groupe de qualification et le groupe de dispatch de chaque tâche.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83F3B"/>
                </a:solidFill>
                <a:latin typeface="Cambria"/>
              </a:rPr>
              <a:t>Retour vers la demande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WO en cours → En transit ; WO clôturé → Arrivé ; WO annulé → alerte.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DISPATCH PAR ZONE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B2E"/>
                </a:solidFill>
                <a:latin typeface="Cambria"/>
              </a:rPr>
              <a:t>Chaque zone de Dakar a son dispatch et ses équipages</a:t>
            </a:r>
          </a:p>
        </p:txBody>
      </p:sp>
      <p:sp>
        <p:nvSpPr>
          <p:cNvPr id="4" name="Numéro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9</a:t>
            </a:r>
          </a:p>
        </p:txBody>
      </p:sp>
      <p:sp>
        <p:nvSpPr>
          <p:cNvPr id="5" name="Région"/>
          <p:cNvSpPr/>
          <p:nvPr/>
        </p:nvSpPr>
        <p:spPr>
          <a:xfrm>
            <a:off x="3566160" y="1691640"/>
            <a:ext cx="5029200" cy="731520"/>
          </a:xfrm>
          <a:prstGeom prst="roundRect">
            <a:avLst>
              <a:gd name="adj" fmla="val 8000"/>
            </a:avLst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69164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Région de Dakar · Qualification transferts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286000" y="2423160"/>
            <a:ext cx="3794760" cy="365760"/>
          </a:xfrm>
          <a:prstGeom prst="line">
            <a:avLst/>
          </a:prstGeom>
          <a:ln w="19050">
            <a:solidFill>
              <a:srgbClr val="5A6B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 Dakar Plateau-Médina"/>
          <p:cNvSpPr/>
          <p:nvPr/>
        </p:nvSpPr>
        <p:spPr>
          <a:xfrm>
            <a:off x="548640" y="27889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83F3B"/>
                </a:solidFill>
                <a:latin typeface="Calibri"/>
              </a:rPr>
              <a:t>Dakar Plateau-Médina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290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Dispatch : disp.plateau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Équipages : 2 ambulanciers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20624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Hôpital Principal de Dakar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Clinique de la Madeleine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Centre hospitalier Abass Ndao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035040" y="2423160"/>
            <a:ext cx="45720" cy="365760"/>
          </a:xfrm>
          <a:prstGeom prst="line">
            <a:avLst/>
          </a:prstGeom>
          <a:ln w="19050">
            <a:solidFill>
              <a:srgbClr val="5A6B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 Fann-Grand Yoff"/>
          <p:cNvSpPr/>
          <p:nvPr/>
        </p:nvSpPr>
        <p:spPr>
          <a:xfrm>
            <a:off x="4297679" y="27889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29718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83F3B"/>
                </a:solidFill>
                <a:latin typeface="Calibri"/>
              </a:rPr>
              <a:t>Fann-Grand Yoff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4290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Dispatch : disp.fann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Équipages : 2 ambulanciers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420624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CHNU de Fann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Hôpital d'Enfants Albert Royer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Hôpital Général Idrissa Pouye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2423160"/>
            <a:ext cx="3703320" cy="365760"/>
          </a:xfrm>
          <a:prstGeom prst="line">
            <a:avLst/>
          </a:prstGeom>
          <a:ln w="19050">
            <a:solidFill>
              <a:srgbClr val="5A6B6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 Pikine-Guédiawaye"/>
          <p:cNvSpPr/>
          <p:nvPr/>
        </p:nvSpPr>
        <p:spPr>
          <a:xfrm>
            <a:off x="8046719" y="2788920"/>
            <a:ext cx="3474720" cy="320040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971800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83F3B"/>
                </a:solidFill>
                <a:latin typeface="Calibri"/>
              </a:rPr>
              <a:t>Pikine-Guédiawaye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4290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Dispatch : disp.banlieue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Équipages : 2 ambulanciers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06240"/>
            <a:ext cx="30175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Hôpital Dalal Jamm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A6B6F"/>
                </a:solidFill>
                <a:latin typeface="Calibri"/>
              </a:rPr>
              <a:t>Un groupe couvre sa zone via sys_group_covers_location ; FSM remonte la hiérarchie des localisations.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DONNÉES DE DÉMONSTRATION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B2E"/>
                </a:solidFill>
                <a:latin typeface="Cambria"/>
              </a:rPr>
              <a:t>Les données de démo comptent 633 lits, dont 95 disponibles</a:t>
            </a:r>
          </a:p>
        </p:txBody>
      </p:sp>
      <p:sp>
        <p:nvSpPr>
          <p:cNvPr id="4" name="Numéro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10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45920"/>
          <a:ext cx="7498079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1737360"/>
            <a:ext cx="320040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83F3B"/>
                </a:solidFill>
                <a:latin typeface="Cambria"/>
              </a:rPr>
              <a:t>7 hôpitaux réels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Noms, adresses et standards publics réels.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8A5A12"/>
                </a:solidFill>
                <a:latin typeface="Cambria"/>
              </a:rPr>
              <a:t>Capacités fictives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Services, lits et équipements sont inventés pour la démonstration.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A6B6F"/>
                </a:solidFill>
                <a:latin typeface="Calibri"/>
              </a:rPr>
              <a:t>10 spécialités · 6 types d'équipements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RECORD PRODUCER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B2E"/>
                </a:solidFill>
                <a:latin typeface="Cambria"/>
              </a:rPr>
              <a:t>Un formulaire guidé crée et publie la demande</a:t>
            </a:r>
          </a:p>
        </p:txBody>
      </p:sp>
      <p:sp>
        <p:nvSpPr>
          <p:cNvPr id="4" name="Numéro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11</a:t>
            </a:r>
          </a:p>
        </p:txBody>
      </p:sp>
      <p:sp>
        <p:nvSpPr>
          <p:cNvPr id="5" name="Section Origine et urgence"/>
          <p:cNvSpPr/>
          <p:nvPr/>
        </p:nvSpPr>
        <p:spPr>
          <a:xfrm>
            <a:off x="548640" y="17830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83F3B"/>
                </a:solidFill>
                <a:latin typeface="Calibri"/>
              </a:rPr>
              <a:t>Origine et urgence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51460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Établissement d'origine *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Service d'origine (filtré)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Urgence *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Date souhaitée</a:t>
            </a:r>
          </a:p>
        </p:txBody>
      </p:sp>
      <p:sp>
        <p:nvSpPr>
          <p:cNvPr id="8" name="Section Patient"/>
          <p:cNvSpPr/>
          <p:nvPr/>
        </p:nvSpPr>
        <p:spPr>
          <a:xfrm>
            <a:off x="4297679" y="17830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19659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83F3B"/>
                </a:solidFill>
                <a:latin typeface="Calibri"/>
              </a:rPr>
              <a:t>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251460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Référence pseudonymisée *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Âge, sexe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Mobilité *</a:t>
            </a:r>
          </a:p>
        </p:txBody>
      </p:sp>
      <p:sp>
        <p:nvSpPr>
          <p:cNvPr id="11" name="Section Besoin et transport"/>
          <p:cNvSpPr/>
          <p:nvPr/>
        </p:nvSpPr>
        <p:spPr>
          <a:xfrm>
            <a:off x="8046719" y="1783080"/>
            <a:ext cx="3474720" cy="292608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2926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83F3B"/>
                </a:solidFill>
                <a:latin typeface="Calibri"/>
              </a:rPr>
              <a:t>Besoin et transport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1460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Spécialité requise *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Niveau de soins *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Mode de transport *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Équipements requis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☑ Publier immédiatement (cochée par défaut) : le post-insert script publie la demande.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6F"/>
                </a:solidFill>
                <a:latin typeface="Calibri"/>
              </a:rPr>
              <a:t>Service Catalog et Service Portal · réservé aux régulateurs · * = obligatoire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SÉCURITÉ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B2E"/>
                </a:solidFill>
                <a:latin typeface="Cambria"/>
              </a:rPr>
              <a:t>Un coordinateur ne voit que son établissement</a:t>
            </a:r>
          </a:p>
        </p:txBody>
      </p:sp>
      <p:sp>
        <p:nvSpPr>
          <p:cNvPr id="4" name="Numéro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840480"/>
                <a:gridCol w="5029200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>
                    <a:solidFill>
                      <a:srgbClr val="0B5D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Régulateur</a:t>
                      </a:r>
                    </a:p>
                  </a:txBody>
                  <a:tcPr>
                    <a:solidFill>
                      <a:srgbClr val="0B5D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Coordinateur</a:t>
                      </a:r>
                    </a:p>
                  </a:txBody>
                  <a:tcPr>
                    <a:solidFill>
                      <a:srgbClr val="0B5D5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B2E"/>
                          </a:solidFill>
                          <a:latin typeface="Calibri"/>
                        </a:rPr>
                        <a:t>Référentiel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2E"/>
                          </a:solidFill>
                          <a:latin typeface="Calibri"/>
                        </a:rPr>
                        <a:t>Lecture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2E"/>
                          </a:solidFill>
                          <a:latin typeface="Calibri"/>
                        </a:rPr>
                        <a:t>Lecture ; modifie son établissement et ses services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B2E"/>
                          </a:solidFill>
                          <a:latin typeface="Calibri"/>
                        </a:rPr>
                        <a:t>Demande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2E"/>
                          </a:solidFill>
                          <a:latin typeface="Calibri"/>
                        </a:rPr>
                        <a:t>Lecture, création, modification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2E"/>
                          </a:solidFill>
                          <a:latin typeface="Calibri"/>
                        </a:rPr>
                        <a:t>Lecture des demandes publiées à son établissement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2B2E"/>
                          </a:solidFill>
                          <a:latin typeface="Calibri"/>
                        </a:rPr>
                        <a:t>Réponse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2E"/>
                          </a:solidFill>
                          <a:latin typeface="Calibri"/>
                        </a:rPr>
                        <a:t>Lecture, retenir une destination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E2B2E"/>
                          </a:solidFill>
                          <a:latin typeface="Calibri"/>
                        </a:rPr>
                        <a:t>Lecture et réponse pour son établissement</a:t>
                      </a:r>
                    </a:p>
                  </a:txBody>
                  <a:tcPr>
                    <a:solidFill>
                      <a:srgbClr val="E4F1E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48056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61772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8A5A12"/>
                </a:solidFill>
                <a:latin typeface="Calibri"/>
              </a:rPr>
              <a:t>Action requise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Exécuter le Fix Script « Transfert Patients - créer les ACL » en security_admin.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48056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461772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83F3B"/>
                </a:solidFill>
                <a:latin typeface="Calibri"/>
              </a:rPr>
              <a:t>Données patient minimales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E2B2E"/>
                </a:solidFill>
                <a:latin typeface="Calibri"/>
              </a:rPr>
              <a:t>Référence pseudonymisée, âge, sexe, besoin clinique. Jamais de nom ni de numéro de sécurité sociale.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B5D57"/>
                </a:solidFill>
                <a:latin typeface="Calibri"/>
              </a:rPr>
              <a:t>LIMITES ET FEUILLE DE ROUTE</a:t>
            </a:r>
          </a:p>
        </p:txBody>
      </p:sp>
      <p:sp>
        <p:nvSpPr>
          <p:cNvPr id="3" name="Titre"/>
          <p:cNvSpPr txBox="1"/>
          <p:nvPr/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E2B2E"/>
                </a:solidFill>
                <a:latin typeface="Cambria"/>
              </a:rPr>
              <a:t>Priorité : ne plus perdre de lits</a:t>
            </a:r>
          </a:p>
        </p:txBody>
      </p:sp>
      <p:sp>
        <p:nvSpPr>
          <p:cNvPr id="4" name="Numéro"/>
          <p:cNvSpPr txBox="1"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6F"/>
                </a:solidFill>
                <a:latin typeface="Calibri"/>
              </a:rPr>
              <a:t>13</a:t>
            </a:r>
          </a:p>
        </p:txBody>
      </p:sp>
      <p:sp>
        <p:nvSpPr>
          <p:cNvPr id="5" name="Horizon Maintenant"/>
          <p:cNvSpPr/>
          <p:nvPr/>
        </p:nvSpPr>
        <p:spPr>
          <a:xfrm>
            <a:off x="548640" y="178308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E3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83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Maintenant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3474720" cy="352044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29260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Libérer le lit si la demande ou le transport est annulé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Table « Réservation de lit » pour la traçabilité</a:t>
            </a:r>
          </a:p>
        </p:txBody>
      </p:sp>
      <p:sp>
        <p:nvSpPr>
          <p:cNvPr id="9" name="Horizon Ensuite"/>
          <p:cNvSpPr/>
          <p:nvPr/>
        </p:nvSpPr>
        <p:spPr>
          <a:xfrm>
            <a:off x="4297679" y="178308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0B5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783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Ensuite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514600"/>
            <a:ext cx="3474720" cy="3520440"/>
          </a:xfrm>
          <a:prstGeom prst="roundRect">
            <a:avLst>
              <a:gd name="adj" fmla="val 8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1999" y="2697480"/>
            <a:ext cx="29260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Bloquer le lit dès l'acceptation, avec expiration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Fusionner transport et remise en une tâche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Dépendances entre tâches et compétences requises</a:t>
            </a:r>
          </a:p>
        </p:txBody>
      </p:sp>
      <p:sp>
        <p:nvSpPr>
          <p:cNvPr id="13" name="Horizon Plus tard"/>
          <p:cNvSpPr/>
          <p:nvPr/>
        </p:nvSpPr>
        <p:spPr>
          <a:xfrm>
            <a:off x="8046719" y="178308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5A6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Plus tard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514600"/>
            <a:ext cx="3474720" cy="3520440"/>
          </a:xfrm>
          <a:prstGeom prst="roundRect">
            <a:avLst>
              <a:gd name="adj" fmla="val 8000"/>
            </a:avLst>
          </a:prstGeom>
          <a:solidFill>
            <a:srgbClr val="F1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697480"/>
            <a:ext cx="29260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Portail dédié aux établissements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Distance dans le choix de destination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1E2B2E"/>
                </a:solidFill>
                <a:latin typeface="Calibri"/>
              </a:rPr>
              <a:t>Tableau de bord Performance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3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Prochaines étapes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2286000"/>
            <a:ext cx="457200" cy="457200"/>
          </a:xfrm>
          <a:prstGeom prst="ellipse">
            <a:avLst/>
          </a:prstGeom>
          <a:solidFill>
            <a:srgbClr val="E3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83F3B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Activer la 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6974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E6E2"/>
                </a:solidFill>
                <a:latin typeface="Calibri"/>
              </a:rPr>
              <a:t>Lancer le Fix Script des ACL en security_admin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E3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83F3B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2900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Tester le parcours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88620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E6E2"/>
                </a:solidFill>
                <a:latin typeface="Calibri"/>
              </a:rPr>
              <a:t>reg.demo → coord.albertroyer → qualification → disp.fann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663440"/>
            <a:ext cx="457200" cy="457200"/>
          </a:xfrm>
          <a:prstGeom prst="ellipse">
            <a:avLst/>
          </a:prstGeom>
          <a:solidFill>
            <a:srgbClr val="E39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83F3B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6177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Valider la feuille de 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5074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FE6E2"/>
                </a:solidFill>
                <a:latin typeface="Calibri"/>
              </a:rPr>
              <a:t>Libération des lits et table de réservation en premier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9CC5BF"/>
                </a:solidFill>
                <a:latin typeface="Calibri"/>
              </a:rPr>
              <a:t>Documentation complète et scripts de build : dossier TransfertPatients/ du repo.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