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Accueil de coord.albertroyer : bandeau d'indicateurs alimenté en temps réel par recordWatch.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Carte TRF0001014 : néonatologie, couveuse requise. Le service proposé par défaut est celui qui a le plus de lits.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réanimation d'Albert Royer est à 0 lit libre : le lit a été réservé pour TRF0001016.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TRF0001013, pédiatrie depuis Dalal Jamm, publiée à Albert Royer seul (seul établissement avec de la pédiatrie).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Action réelle exécutée pendant la démo : acceptation de TRF0001013 par Albert Royer.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L'acceptation de TRF0001013 apparaît aussitôt dans la colonne « Votre réponse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groupe de dispatch est renseigné automatiquement par Field Service selon la localisation.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Vue reg.demo juste après l'acceptation faite par le coordinateur.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TRF0001015, cardiologie : Fann et l'Hôpital Principal ont accepté. Fann est retenu pendant la démo.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lits réservés au total pendant la démo (95 → 92).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agent.dalaljamm : Hôpital Dalal Jamm et +221 33 839 85 85 pré-remplis ; Réanimation → Réanimation, SMUR, respirateur et moniteur.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L'agent ne voit que ses propres demandes (ACL). Les autres hôpitaux n'ont pas de lit de réanimation libre ou pas de respirateur.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3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1097280"/>
            <a:ext cx="822960" cy="822960"/>
          </a:xfrm>
          <a:prstGeom prst="ellipse">
            <a:avLst/>
          </a:prstGeom>
          <a:solidFill>
            <a:srgbClr val="E3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083F3B"/>
                </a:solidFill>
                <a:latin typeface="Calibri"/>
              </a:rPr>
              <a:t>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402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FFFFFF"/>
                </a:solidFill>
                <a:latin typeface="Cambria"/>
              </a:rPr>
              <a:t>Démonstration — Transfert Patients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CFE6E2"/>
                </a:solidFill>
                <a:latin typeface="Calibri"/>
              </a:rPr>
              <a:t>Un transfert de bout en bout sur le portail /transferts, vu par le coordinateur, le régulateur et l'agent d'établissement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949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CC5BF"/>
                </a:solidFill>
                <a:latin typeface="Calibri"/>
              </a:rPr>
              <a:t>Captures réelles · PDI dev408543 · 14 octobre 2026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CC5BF"/>
                </a:solidFill>
                <a:latin typeface="Calibri"/>
              </a:rPr>
              <a:t>Données de démonstration fictives (patients, capacités)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5D57"/>
                </a:solidFill>
                <a:latin typeface="Calibri"/>
              </a:rPr>
              <a:t>LE SCÉNARIO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B2E"/>
                </a:solidFill>
                <a:latin typeface="Cambria"/>
              </a:rPr>
              <a:t>Trois rôles, quatre demandes, un parcours complet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B6F"/>
                </a:solidFill>
                <a:latin typeface="Calibri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3474720" cy="237744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2057400"/>
            <a:ext cx="457200" cy="457200"/>
          </a:xfrm>
          <a:prstGeom prst="ellipse">
            <a:avLst/>
          </a:prstGeom>
          <a:solidFill>
            <a:srgbClr val="0B5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974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83F3B"/>
                </a:solidFill>
                <a:latin typeface="Cambria"/>
              </a:rPr>
              <a:t>Coordinateur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1089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6B6F"/>
                </a:solidFill>
                <a:latin typeface="Calibri"/>
              </a:rPr>
              <a:t>Hôpital d'Enfants Albert Royer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47472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Consulte les demandes reçues, accepte TRF0001013, suit un patient attendu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783080"/>
            <a:ext cx="3474720" cy="237744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1999" y="2057400"/>
            <a:ext cx="457200" cy="457200"/>
          </a:xfrm>
          <a:prstGeom prst="ellipse">
            <a:avLst/>
          </a:prstGeom>
          <a:solidFill>
            <a:srgbClr val="0B5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6974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83F3B"/>
                </a:solidFill>
                <a:latin typeface="Cambria"/>
              </a:rPr>
              <a:t>Régulateur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31089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6B6F"/>
                </a:solidFill>
                <a:latin typeface="Calibri"/>
              </a:rPr>
              <a:t>Régulation de Dakar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47472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Compare les acceptations et retient la destination de TRF0001015 et TRF0001014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783080"/>
            <a:ext cx="3474720" cy="237744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21040" y="2057400"/>
            <a:ext cx="457200" cy="457200"/>
          </a:xfrm>
          <a:prstGeom prst="ellipse">
            <a:avLst/>
          </a:prstGeom>
          <a:solidFill>
            <a:srgbClr val="0B5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974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83F3B"/>
                </a:solidFill>
                <a:latin typeface="Cambria"/>
              </a:rPr>
              <a:t>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1089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6B6F"/>
                </a:solidFill>
                <a:latin typeface="Calibri"/>
              </a:rPr>
              <a:t>Hôpital Dalal Jamm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47472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Crée TRF0001017 avec un formulaire pré-rempli et des suggestions par spécialité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434340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3566160"/>
                <a:gridCol w="3657600"/>
              </a:tblGrid>
              <a:tr h="3352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Demande</a:t>
                      </a:r>
                    </a:p>
                  </a:txBody>
                  <a:tcPr>
                    <a:solidFill>
                      <a:srgbClr val="0B5D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Spécialité</a:t>
                      </a:r>
                    </a:p>
                  </a:txBody>
                  <a:tcPr>
                    <a:solidFill>
                      <a:srgbClr val="0B5D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Trajet</a:t>
                      </a:r>
                    </a:p>
                  </a:txBody>
                  <a:tcPr>
                    <a:solidFill>
                      <a:srgbClr val="0B5D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Dans la démo</a:t>
                      </a:r>
                    </a:p>
                  </a:txBody>
                  <a:tcPr>
                    <a:solidFill>
                      <a:srgbClr val="0B5D57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2B2E"/>
                          </a:solidFill>
                          <a:latin typeface="Calibri"/>
                        </a:rPr>
                        <a:t>TRF0001017</a:t>
                      </a:r>
                    </a:p>
                  </a:txBody>
                  <a:tcPr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B2E"/>
                          </a:solidFill>
                          <a:latin typeface="Calibri"/>
                        </a:rPr>
                        <a:t>Réanimation</a:t>
                      </a:r>
                    </a:p>
                  </a:txBody>
                  <a:tcPr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B2E"/>
                          </a:solidFill>
                          <a:latin typeface="Calibri"/>
                        </a:rPr>
                        <a:t>Dalal Jamm → à retenir</a:t>
                      </a:r>
                    </a:p>
                  </a:txBody>
                  <a:tcPr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B2E"/>
                          </a:solidFill>
                          <a:latin typeface="Calibri"/>
                        </a:rPr>
                        <a:t>créée par l'agent pendant la démo</a:t>
                      </a:r>
                    </a:p>
                  </a:txBody>
                  <a:tcPr>
                    <a:solidFill>
                      <a:srgbClr val="E4F1E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2B2E"/>
                          </a:solidFill>
                          <a:latin typeface="Calibri"/>
                        </a:rPr>
                        <a:t>TRF0001013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B2E"/>
                          </a:solidFill>
                          <a:latin typeface="Calibri"/>
                        </a:rPr>
                        <a:t>Pédiatrie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B2E"/>
                          </a:solidFill>
                          <a:latin typeface="Calibri"/>
                        </a:rPr>
                        <a:t>Dalal Jamm → Albert Royer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B2E"/>
                          </a:solidFill>
                          <a:latin typeface="Calibri"/>
                        </a:rPr>
                        <a:t>accepté puis retenu pendant la démo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2B2E"/>
                          </a:solidFill>
                          <a:latin typeface="Calibri"/>
                        </a:rPr>
                        <a:t>TRF0001014</a:t>
                      </a:r>
                    </a:p>
                  </a:txBody>
                  <a:tcPr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B2E"/>
                          </a:solidFill>
                          <a:latin typeface="Calibri"/>
                        </a:rPr>
                        <a:t>Néonatologie</a:t>
                      </a:r>
                    </a:p>
                  </a:txBody>
                  <a:tcPr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B2E"/>
                          </a:solidFill>
                          <a:latin typeface="Calibri"/>
                        </a:rPr>
                        <a:t>Hôpital Principal → Idrissa Pouye</a:t>
                      </a:r>
                    </a:p>
                  </a:txBody>
                  <a:tcPr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B2E"/>
                          </a:solidFill>
                          <a:latin typeface="Calibri"/>
                        </a:rPr>
                        <a:t>retenu pendant la démo</a:t>
                      </a:r>
                    </a:p>
                  </a:txBody>
                  <a:tcPr>
                    <a:solidFill>
                      <a:srgbClr val="E4F1E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2B2E"/>
                          </a:solidFill>
                          <a:latin typeface="Calibri"/>
                        </a:rPr>
                        <a:t>TRF0001015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B2E"/>
                          </a:solidFill>
                          <a:latin typeface="Calibri"/>
                        </a:rPr>
                        <a:t>Cardiologie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B2E"/>
                          </a:solidFill>
                          <a:latin typeface="Calibri"/>
                        </a:rPr>
                        <a:t>Abass Ndao → CHNU de Fann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B2E"/>
                          </a:solidFill>
                          <a:latin typeface="Calibri"/>
                        </a:rPr>
                        <a:t>2 acceptations, Fann retenu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2B2E"/>
                          </a:solidFill>
                          <a:latin typeface="Calibri"/>
                        </a:rPr>
                        <a:t>TRF0001016</a:t>
                      </a:r>
                    </a:p>
                  </a:txBody>
                  <a:tcPr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B2E"/>
                          </a:solidFill>
                          <a:latin typeface="Calibri"/>
                        </a:rPr>
                        <a:t>Réanimation</a:t>
                      </a:r>
                    </a:p>
                  </a:txBody>
                  <a:tcPr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B2E"/>
                          </a:solidFill>
                          <a:latin typeface="Calibri"/>
                        </a:rPr>
                        <a:t>Idrissa Pouye → Albert Royer</a:t>
                      </a:r>
                    </a:p>
                  </a:txBody>
                  <a:tcPr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B2E"/>
                          </a:solidFill>
                          <a:latin typeface="Calibri"/>
                        </a:rPr>
                        <a:t>transport planifié (FSM)</a:t>
                      </a:r>
                    </a:p>
                  </a:txBody>
                  <a:tcPr>
                    <a:solidFill>
                      <a:srgbClr val="E4F1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5D57"/>
                </a:solidFill>
                <a:latin typeface="Calibri"/>
              </a:rPr>
              <a:t>ACCUEIL DU PORTAIL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B2E"/>
                </a:solidFill>
                <a:latin typeface="Cambria"/>
              </a:rPr>
              <a:t>Le coordinateur voit d'un coup d'œil ce qui l'attend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29260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0" y="29260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083F3B"/>
                </a:solidFill>
                <a:latin typeface="Calibri"/>
              </a:rPr>
              <a:t>Coordinateur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B6F"/>
                </a:solidFill>
                <a:latin typeface="Calibri"/>
              </a:rPr>
              <a:t>3</a:t>
            </a:r>
          </a:p>
        </p:txBody>
      </p:sp>
      <p:pic>
        <p:nvPicPr>
          <p:cNvPr id="7" name="Le coordinateur voit d'un coup d'œil ce qui l'attend" descr="01-accue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7772400" cy="3963924"/>
          </a:xfrm>
          <a:prstGeom prst="rect">
            <a:avLst/>
          </a:prstGeom>
          <a:ln w="9525">
            <a:solidFill>
              <a:srgbClr val="C9D8D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686800" y="1691640"/>
            <a:ext cx="297180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83F3B"/>
                </a:solidFill>
                <a:latin typeface="Calibri"/>
              </a:rPr>
              <a:t>2 demandes à traiter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avec le délai de la plus urgente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83F3B"/>
                </a:solidFill>
                <a:latin typeface="Calibri"/>
              </a:rPr>
              <a:t>1 patient attendu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TRF0001016, transport planifié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83F3B"/>
                </a:solidFill>
                <a:latin typeface="Calibri"/>
              </a:rPr>
              <a:t>9 lits disponibles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sur 83, dans 3 services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83F3B"/>
                </a:solidFill>
                <a:latin typeface="Calibri"/>
              </a:rPr>
              <a:t>Temps réel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les compteurs se mettent à jour seuls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5D57"/>
                </a:solidFill>
                <a:latin typeface="Calibri"/>
              </a:rPr>
              <a:t>À TRAITER MAINTENANT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B2E"/>
                </a:solidFill>
                <a:latin typeface="Cambria"/>
              </a:rPr>
              <a:t>Il répond sans quitter l'accueil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29260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0" y="29260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083F3B"/>
                </a:solidFill>
                <a:latin typeface="Calibri"/>
              </a:rPr>
              <a:t>Coordinateur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B6F"/>
                </a:solidFill>
                <a:latin typeface="Calibri"/>
              </a:rPr>
              <a:t>4</a:t>
            </a:r>
          </a:p>
        </p:txBody>
      </p:sp>
      <p:pic>
        <p:nvPicPr>
          <p:cNvPr id="7" name="Il répond sans quitter l'accueil" descr="02-a-trai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7772400" cy="3963924"/>
          </a:xfrm>
          <a:prstGeom prst="rect">
            <a:avLst/>
          </a:prstGeom>
          <a:ln w="9525">
            <a:solidFill>
              <a:srgbClr val="C9D8D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686800" y="1691640"/>
            <a:ext cx="297180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83F3B"/>
                </a:solidFill>
                <a:latin typeface="Calibri"/>
              </a:rPr>
              <a:t>Besoin complet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spécialité, niveau, patient, transport, équipements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83F3B"/>
                </a:solidFill>
                <a:latin typeface="Calibri"/>
              </a:rPr>
              <a:t>Service proposé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liste des services avec leurs lits libres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83F3B"/>
                </a:solidFill>
                <a:latin typeface="Calibri"/>
              </a:rPr>
              <a:t>Accepter ou refuser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le refus demande un motif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5D57"/>
                </a:solidFill>
                <a:latin typeface="Calibri"/>
              </a:rPr>
              <a:t>CAPACITÉ ET ARRIVÉES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B2E"/>
                </a:solidFill>
                <a:latin typeface="Cambria"/>
              </a:rPr>
              <a:t>Il tient ses lits à jour en un clic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29260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0" y="29260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083F3B"/>
                </a:solidFill>
                <a:latin typeface="Calibri"/>
              </a:rPr>
              <a:t>Coordinateur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B6F"/>
                </a:solidFill>
                <a:latin typeface="Calibri"/>
              </a:rPr>
              <a:t>5</a:t>
            </a:r>
          </a:p>
        </p:txBody>
      </p:sp>
      <p:pic>
        <p:nvPicPr>
          <p:cNvPr id="7" name="Il tient ses lits à jour en un clic" descr="03-capacite-arrive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7772400" cy="3963924"/>
          </a:xfrm>
          <a:prstGeom prst="rect">
            <a:avLst/>
          </a:prstGeom>
          <a:ln w="9525">
            <a:solidFill>
              <a:srgbClr val="C9D8D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686800" y="1691640"/>
            <a:ext cx="297180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83F3B"/>
                </a:solidFill>
                <a:latin typeface="Calibri"/>
              </a:rPr>
              <a:t>Boutons − et +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par service, bornés entre 0 et le total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83F3B"/>
                </a:solidFill>
                <a:latin typeface="Calibri"/>
              </a:rPr>
              <a:t>Arrivées attendues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TRF0001016 et l'état de ses 3 tâches FSM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83F3B"/>
                </a:solidFill>
                <a:latin typeface="Calibri"/>
              </a:rPr>
              <a:t>Visible par la régulation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et utilisé pour cibler les publications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5D57"/>
                </a:solidFill>
                <a:latin typeface="Calibri"/>
              </a:rPr>
              <a:t>PARCOURS D'UNE DEMANDE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B2E"/>
                </a:solidFill>
                <a:latin typeface="Cambria"/>
              </a:rPr>
              <a:t>Chaque demande montre où elle en 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29260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0" y="29260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083F3B"/>
                </a:solidFill>
                <a:latin typeface="Calibri"/>
              </a:rPr>
              <a:t>Coordinateur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B6F"/>
                </a:solidFill>
                <a:latin typeface="Calibri"/>
              </a:rPr>
              <a:t>6</a:t>
            </a:r>
          </a:p>
        </p:txBody>
      </p:sp>
      <p:pic>
        <p:nvPicPr>
          <p:cNvPr id="7" name="Chaque demande montre où elle en est" descr="04-demande-etap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7772400" cy="3963924"/>
          </a:xfrm>
          <a:prstGeom prst="rect">
            <a:avLst/>
          </a:prstGeom>
          <a:ln w="9525">
            <a:solidFill>
              <a:srgbClr val="C9D8D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686800" y="1691640"/>
            <a:ext cx="297180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83F3B"/>
                </a:solidFill>
                <a:latin typeface="Calibri"/>
              </a:rPr>
              <a:t>6 étapes horodatées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de Brouillon à Arrivé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83F3B"/>
                </a:solidFill>
                <a:latin typeface="Calibri"/>
              </a:rPr>
              <a:t>Échéance visible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réponse attendue avant 19:49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83F3B"/>
                </a:solidFill>
                <a:latin typeface="Calibri"/>
              </a:rPr>
              <a:t>Besoin du patient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référence pseudonymisée, aucune donnée nominative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5D57"/>
                </a:solidFill>
                <a:latin typeface="Calibri"/>
              </a:rPr>
              <a:t>RÉPONDRE DEPUIS LE PORTAIL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B2E"/>
                </a:solidFill>
                <a:latin typeface="Cambria"/>
              </a:rPr>
              <a:t>Accepter prend dix secondes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29260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0" y="29260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083F3B"/>
                </a:solidFill>
                <a:latin typeface="Calibri"/>
              </a:rPr>
              <a:t>Coordinateur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B6F"/>
                </a:solidFill>
                <a:latin typeface="Calibri"/>
              </a:rPr>
              <a:t>7</a:t>
            </a:r>
          </a:p>
        </p:txBody>
      </p:sp>
      <p:pic>
        <p:nvPicPr>
          <p:cNvPr id="7" name="Service, heure d'arrivée possible et commentaire pour la régulation" descr="05-repon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394960" cy="2751429"/>
          </a:xfrm>
          <a:prstGeom prst="rect">
            <a:avLst/>
          </a:prstGeom>
          <a:ln w="9525">
            <a:solidFill>
              <a:srgbClr val="C9D8D5"/>
            </a:solidFill>
          </a:ln>
        </p:spPr>
      </p:pic>
      <p:sp>
        <p:nvSpPr>
          <p:cNvPr id="8" name="Oval 7"/>
          <p:cNvSpPr/>
          <p:nvPr/>
        </p:nvSpPr>
        <p:spPr>
          <a:xfrm>
            <a:off x="548640" y="4625949"/>
            <a:ext cx="365760" cy="365760"/>
          </a:xfrm>
          <a:prstGeom prst="ellipse">
            <a:avLst/>
          </a:prstGeom>
          <a:solidFill>
            <a:srgbClr val="0B5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625949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Service, heure d'arrivée possible et commentaire pour la régulation</a:t>
            </a:r>
          </a:p>
        </p:txBody>
      </p:sp>
      <p:pic>
        <p:nvPicPr>
          <p:cNvPr id="10" name="Confirmation immédiate ; le parcours ajoute l'événement" descr="06-acceptation-envoye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91640"/>
            <a:ext cx="5394960" cy="2751429"/>
          </a:xfrm>
          <a:prstGeom prst="rect">
            <a:avLst/>
          </a:prstGeom>
          <a:ln w="9525">
            <a:solidFill>
              <a:srgbClr val="C9D8D5"/>
            </a:solidFill>
          </a:ln>
        </p:spPr>
      </p:pic>
      <p:sp>
        <p:nvSpPr>
          <p:cNvPr id="11" name="Oval 10"/>
          <p:cNvSpPr/>
          <p:nvPr/>
        </p:nvSpPr>
        <p:spPr>
          <a:xfrm>
            <a:off x="6217920" y="4625949"/>
            <a:ext cx="365760" cy="365760"/>
          </a:xfrm>
          <a:prstGeom prst="ellipse">
            <a:avLst/>
          </a:prstGeom>
          <a:solidFill>
            <a:srgbClr val="0B5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4625949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Confirmation immédiate ; le parcours ajoute l'événement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62356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083F3B"/>
                </a:solidFill>
                <a:latin typeface="Calibri"/>
              </a:rPr>
              <a:t>La régulation est notifiée tout de suite, et le coordinateur peut changer d'avis tant que la destination n'est pas retenue.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5D57"/>
                </a:solidFill>
                <a:latin typeface="Calibri"/>
              </a:rPr>
              <a:t>LISTE DES DEMANDES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B2E"/>
                </a:solidFill>
                <a:latin typeface="Cambria"/>
              </a:rPr>
              <a:t>Toutes les demandes, filtrées par ce qui compte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29260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0" y="29260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083F3B"/>
                </a:solidFill>
                <a:latin typeface="Calibri"/>
              </a:rPr>
              <a:t>Coordinateur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B6F"/>
                </a:solidFill>
                <a:latin typeface="Calibri"/>
              </a:rPr>
              <a:t>8</a:t>
            </a:r>
          </a:p>
        </p:txBody>
      </p:sp>
      <p:pic>
        <p:nvPicPr>
          <p:cNvPr id="7" name="Toutes les demandes, filtrées par ce qui compte" descr="07-lis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7772400" cy="3963924"/>
          </a:xfrm>
          <a:prstGeom prst="rect">
            <a:avLst/>
          </a:prstGeom>
          <a:ln w="9525">
            <a:solidFill>
              <a:srgbClr val="C9D8D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686800" y="1691640"/>
            <a:ext cx="297180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83F3B"/>
                </a:solidFill>
                <a:latin typeface="Calibri"/>
              </a:rPr>
              <a:t>Reçues, émises, historique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un onglet par usage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83F3B"/>
                </a:solidFill>
                <a:latin typeface="Calibri"/>
              </a:rPr>
              <a:t>Filtres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à traiter, vitale, urgente, programmée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83F3B"/>
                </a:solidFill>
                <a:latin typeface="Calibri"/>
              </a:rPr>
              <a:t>État de chaque réponse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en attente, acceptée, retenue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5D57"/>
                </a:solidFill>
                <a:latin typeface="Calibri"/>
              </a:rPr>
              <a:t>TRANSPORT FIELD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B2E"/>
                </a:solidFill>
                <a:latin typeface="Cambria"/>
              </a:rPr>
              <a:t>Le transport est suivi jusqu'à l'arrivée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29260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0" y="29260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083F3B"/>
                </a:solidFill>
                <a:latin typeface="Calibri"/>
              </a:rPr>
              <a:t>Coordinateur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B6F"/>
                </a:solidFill>
                <a:latin typeface="Calibri"/>
              </a:rPr>
              <a:t>9</a:t>
            </a:r>
          </a:p>
        </p:txBody>
      </p:sp>
      <p:pic>
        <p:nvPicPr>
          <p:cNvPr id="7" name="TRF0001016 : destination retenue, transport planifié" descr="08-transport-etap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394960" cy="2751429"/>
          </a:xfrm>
          <a:prstGeom prst="rect">
            <a:avLst/>
          </a:prstGeom>
          <a:ln w="9525">
            <a:solidFill>
              <a:srgbClr val="C9D8D5"/>
            </a:solidFill>
          </a:ln>
        </p:spPr>
      </p:pic>
      <p:sp>
        <p:nvSpPr>
          <p:cNvPr id="8" name="Oval 7"/>
          <p:cNvSpPr/>
          <p:nvPr/>
        </p:nvSpPr>
        <p:spPr>
          <a:xfrm>
            <a:off x="548640" y="4625949"/>
            <a:ext cx="365760" cy="365760"/>
          </a:xfrm>
          <a:prstGeom prst="ellipse">
            <a:avLst/>
          </a:prstGeom>
          <a:solidFill>
            <a:srgbClr val="0B5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625949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TRF0001016 : destination retenue, transport planifié</a:t>
            </a:r>
          </a:p>
        </p:txBody>
      </p:sp>
      <p:pic>
        <p:nvPicPr>
          <p:cNvPr id="10" name="Ordre WO0010012 et dispatch de la zone Fann-Grand Yoff" descr="09-parcours-transpor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91640"/>
            <a:ext cx="5394960" cy="2751429"/>
          </a:xfrm>
          <a:prstGeom prst="rect">
            <a:avLst/>
          </a:prstGeom>
          <a:ln w="9525">
            <a:solidFill>
              <a:srgbClr val="C9D8D5"/>
            </a:solidFill>
          </a:ln>
        </p:spPr>
      </p:pic>
      <p:sp>
        <p:nvSpPr>
          <p:cNvPr id="11" name="Oval 10"/>
          <p:cNvSpPr/>
          <p:nvPr/>
        </p:nvSpPr>
        <p:spPr>
          <a:xfrm>
            <a:off x="6217920" y="4625949"/>
            <a:ext cx="365760" cy="365760"/>
          </a:xfrm>
          <a:prstGeom prst="ellipse">
            <a:avLst/>
          </a:prstGeom>
          <a:solidFill>
            <a:srgbClr val="0B5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4625949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Ordre WO0010012 et dispatch de la zone Fann-Grand Yoff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62356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083F3B"/>
                </a:solidFill>
                <a:latin typeface="Calibri"/>
              </a:rPr>
              <a:t>L'ordre de transport est un Work Order FSM standard : qualification, puis dispatch par la zone qui couvre l'origine.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5D57"/>
                </a:solidFill>
                <a:latin typeface="Calibri"/>
              </a:rPr>
              <a:t>TABLEAU DE RÉGULATION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B2E"/>
                </a:solidFill>
                <a:latin typeface="Cambria"/>
              </a:rPr>
              <a:t>Le régulateur pilote toute la région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29260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0" y="29260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083F3B"/>
                </a:solidFill>
                <a:latin typeface="Calibri"/>
              </a:rPr>
              <a:t>Régulateur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B6F"/>
                </a:solidFill>
                <a:latin typeface="Calibri"/>
              </a:rPr>
              <a:t>10</a:t>
            </a:r>
          </a:p>
        </p:txBody>
      </p:sp>
      <p:pic>
        <p:nvPicPr>
          <p:cNvPr id="7" name="Le régulateur pilote toute la région" descr="10-regul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7772400" cy="3963924"/>
          </a:xfrm>
          <a:prstGeom prst="rect">
            <a:avLst/>
          </a:prstGeom>
          <a:ln w="9525">
            <a:solidFill>
              <a:srgbClr val="C9D8D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686800" y="1691640"/>
            <a:ext cx="297180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83F3B"/>
                </a:solidFill>
                <a:latin typeface="Calibri"/>
              </a:rPr>
              <a:t>4 colonnes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publiées, à arbitrer, transport, en transit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83F3B"/>
                </a:solidFill>
                <a:latin typeface="Calibri"/>
              </a:rPr>
              <a:t>Temps réel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TRF0001013 est passée en « à arbitrer » dès l'acceptation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83F3B"/>
                </a:solidFill>
                <a:latin typeface="Calibri"/>
              </a:rPr>
              <a:t>Lits libres par spécialité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95 lits libres sur 633 dans la région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5D57"/>
                </a:solidFill>
                <a:latin typeface="Calibri"/>
              </a:rPr>
              <a:t>ARBITRAGE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B2E"/>
                </a:solidFill>
                <a:latin typeface="Cambria"/>
              </a:rPr>
              <a:t>Il compare les acceptations avant de choisir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29260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0" y="29260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083F3B"/>
                </a:solidFill>
                <a:latin typeface="Calibri"/>
              </a:rPr>
              <a:t>Régulateur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B6F"/>
                </a:solidFill>
                <a:latin typeface="Calibri"/>
              </a:rPr>
              <a:t>11</a:t>
            </a:r>
          </a:p>
        </p:txBody>
      </p:sp>
      <p:pic>
        <p:nvPicPr>
          <p:cNvPr id="7" name="Il compare les acceptations avant de choisir" descr="11-reponses-compare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7772400" cy="3963924"/>
          </a:xfrm>
          <a:prstGeom prst="rect">
            <a:avLst/>
          </a:prstGeom>
          <a:ln w="9525">
            <a:solidFill>
              <a:srgbClr val="C9D8D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686800" y="1691640"/>
            <a:ext cx="297180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83F3B"/>
                </a:solidFill>
                <a:latin typeface="Calibri"/>
              </a:rPr>
              <a:t>Côte à côte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service, lits libres, heure d'arrivée, commentaire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83F3B"/>
                </a:solidFill>
                <a:latin typeface="Calibri"/>
              </a:rPr>
              <a:t>Refus motivés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la Madeleine : personnel insuffisant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83F3B"/>
                </a:solidFill>
                <a:latin typeface="Calibri"/>
              </a:rPr>
              <a:t>Un bouton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« Retenir cette destination », avec confirmation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5D57"/>
                </a:solidFill>
                <a:latin typeface="Calibri"/>
              </a:rPr>
              <a:t>DESTINATION RETENUE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B2E"/>
                </a:solidFill>
                <a:latin typeface="Cambria"/>
              </a:rPr>
              <a:t>Retenir réserve le lit et lance le transport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29260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0" y="29260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083F3B"/>
                </a:solidFill>
                <a:latin typeface="Calibri"/>
              </a:rPr>
              <a:t>Régulateur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B6F"/>
                </a:solidFill>
                <a:latin typeface="Calibri"/>
              </a:rPr>
              <a:t>12</a:t>
            </a:r>
          </a:p>
        </p:txBody>
      </p:sp>
      <p:pic>
        <p:nvPicPr>
          <p:cNvPr id="7" name="TRF0001014 : Idrissa Pouye retenu, transport planifié" descr="12-destination-reten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394960" cy="2751429"/>
          </a:xfrm>
          <a:prstGeom prst="rect">
            <a:avLst/>
          </a:prstGeom>
          <a:ln w="9525">
            <a:solidFill>
              <a:srgbClr val="C9D8D5"/>
            </a:solidFill>
          </a:ln>
        </p:spPr>
      </p:pic>
      <p:sp>
        <p:nvSpPr>
          <p:cNvPr id="8" name="Oval 7"/>
          <p:cNvSpPr/>
          <p:nvPr/>
        </p:nvSpPr>
        <p:spPr>
          <a:xfrm>
            <a:off x="548640" y="4625949"/>
            <a:ext cx="365760" cy="365760"/>
          </a:xfrm>
          <a:prstGeom prst="ellipse">
            <a:avLst/>
          </a:prstGeom>
          <a:solidFill>
            <a:srgbClr val="0B5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625949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TRF0001014 : Idrissa Pouye retenu, transport planifié</a:t>
            </a:r>
          </a:p>
        </p:txBody>
      </p:sp>
      <p:pic>
        <p:nvPicPr>
          <p:cNvPr id="10" name="Tableau après : 4 transports planifiés, 92 lits libres" descr="13-regulation-apr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91640"/>
            <a:ext cx="5394960" cy="2751429"/>
          </a:xfrm>
          <a:prstGeom prst="rect">
            <a:avLst/>
          </a:prstGeom>
          <a:ln w="9525">
            <a:solidFill>
              <a:srgbClr val="C9D8D5"/>
            </a:solidFill>
          </a:ln>
        </p:spPr>
      </p:pic>
      <p:sp>
        <p:nvSpPr>
          <p:cNvPr id="11" name="Oval 10"/>
          <p:cNvSpPr/>
          <p:nvPr/>
        </p:nvSpPr>
        <p:spPr>
          <a:xfrm>
            <a:off x="6217920" y="4625949"/>
            <a:ext cx="365760" cy="365760"/>
          </a:xfrm>
          <a:prstGeom prst="ellipse">
            <a:avLst/>
          </a:prstGeom>
          <a:solidFill>
            <a:srgbClr val="0B5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4625949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Tableau après : 4 transports planifiés, 92 lits libres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62356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083F3B"/>
                </a:solidFill>
                <a:latin typeface="Calibri"/>
              </a:rPr>
              <a:t>Les autres établissements passent en « Non retenue » et sont notifiés ; l'ordre de transport FSM est créé.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5D57"/>
                </a:solidFill>
                <a:latin typeface="Calibri"/>
              </a:rPr>
              <a:t>FORMULAIRE DE DEMANDE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B2E"/>
                </a:solidFill>
                <a:latin typeface="Cambria"/>
              </a:rPr>
              <a:t>L'agent ne saisit que l'essentiel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29260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0" y="29260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083F3B"/>
                </a:solidFill>
                <a:latin typeface="Calibri"/>
              </a:rPr>
              <a:t>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B6F"/>
                </a:solidFill>
                <a:latin typeface="Calibri"/>
              </a:rPr>
              <a:t>13</a:t>
            </a:r>
          </a:p>
        </p:txBody>
      </p:sp>
      <p:pic>
        <p:nvPicPr>
          <p:cNvPr id="7" name="Établissement d'origine et téléphone pré-remplis d'après le profil" descr="14-formulaire-prerempl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394960" cy="2751429"/>
          </a:xfrm>
          <a:prstGeom prst="rect">
            <a:avLst/>
          </a:prstGeom>
          <a:ln w="9525">
            <a:solidFill>
              <a:srgbClr val="C9D8D5"/>
            </a:solidFill>
          </a:ln>
        </p:spPr>
      </p:pic>
      <p:sp>
        <p:nvSpPr>
          <p:cNvPr id="8" name="Oval 7"/>
          <p:cNvSpPr/>
          <p:nvPr/>
        </p:nvSpPr>
        <p:spPr>
          <a:xfrm>
            <a:off x="548640" y="4625949"/>
            <a:ext cx="365760" cy="365760"/>
          </a:xfrm>
          <a:prstGeom prst="ellipse">
            <a:avLst/>
          </a:prstGeom>
          <a:solidFill>
            <a:srgbClr val="0B5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625949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Établissement d'origine et téléphone pré-remplis d'après le profil</a:t>
            </a:r>
          </a:p>
        </p:txBody>
      </p:sp>
      <p:pic>
        <p:nvPicPr>
          <p:cNvPr id="10" name="Spécialité choisie : niveau, transport et équipements proposés" descr="15-suggestions-speciali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91640"/>
            <a:ext cx="5394960" cy="2751429"/>
          </a:xfrm>
          <a:prstGeom prst="rect">
            <a:avLst/>
          </a:prstGeom>
          <a:ln w="9525">
            <a:solidFill>
              <a:srgbClr val="C9D8D5"/>
            </a:solidFill>
          </a:ln>
        </p:spPr>
      </p:pic>
      <p:sp>
        <p:nvSpPr>
          <p:cNvPr id="11" name="Oval 10"/>
          <p:cNvSpPr/>
          <p:nvPr/>
        </p:nvSpPr>
        <p:spPr>
          <a:xfrm>
            <a:off x="6217920" y="4625949"/>
            <a:ext cx="365760" cy="365760"/>
          </a:xfrm>
          <a:prstGeom prst="ellipse">
            <a:avLst/>
          </a:prstGeom>
          <a:solidFill>
            <a:srgbClr val="0B5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4625949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Spécialité choisie : niveau, transport et équipements proposés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62356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083F3B"/>
                </a:solidFill>
                <a:latin typeface="Calibri"/>
              </a:rPr>
              <a:t>Les valeurs proposées sont configurées sur chaque spécialité par l'administrateur fonctionnel ; tout reste modifiable.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5D57"/>
                </a:solidFill>
                <a:latin typeface="Calibri"/>
              </a:rPr>
              <a:t>DEMANDE PUBLIÉE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B2E"/>
                </a:solidFill>
                <a:latin typeface="Cambria"/>
              </a:rPr>
              <a:t>La demande part aussitôt aux bons établissements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29260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0" y="29260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083F3B"/>
                </a:solidFill>
                <a:latin typeface="Calibri"/>
              </a:rPr>
              <a:t>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B6F"/>
                </a:solidFill>
                <a:latin typeface="Calibri"/>
              </a:rPr>
              <a:t>14</a:t>
            </a:r>
          </a:p>
        </p:txBody>
      </p:sp>
      <p:pic>
        <p:nvPicPr>
          <p:cNvPr id="7" name="La demande part aussitôt aux bons établissements" descr="16-demande-agent-publie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7772400" cy="3963924"/>
          </a:xfrm>
          <a:prstGeom prst="rect">
            <a:avLst/>
          </a:prstGeom>
          <a:ln w="9525">
            <a:solidFill>
              <a:srgbClr val="C9D8D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686800" y="1691640"/>
            <a:ext cx="297180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83F3B"/>
                </a:solidFill>
                <a:latin typeface="Calibri"/>
              </a:rPr>
              <a:t>TRF0001017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créée et publiée en un envoi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83F3B"/>
                </a:solidFill>
                <a:latin typeface="Calibri"/>
              </a:rPr>
              <a:t>2 établissements sollicités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CHNU de Fann et Idrissa Pouye : lit de réanimation et respirateur disponibles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83F3B"/>
                </a:solidFill>
                <a:latin typeface="Calibri"/>
              </a:rPr>
              <a:t>Suivi en direct</a:t>
            </a:r>
          </a:p>
          <a:p>
            <a:pPr algn="l">
              <a:spcAft>
                <a:spcPts val="14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étapes, échéance, possibilité d'annuler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5D57"/>
                </a:solidFill>
                <a:latin typeface="Calibri"/>
              </a:rPr>
              <a:t>CONSTATS DE LA DÉMONSTRATION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E2B2E"/>
                </a:solidFill>
                <a:latin typeface="Cambria"/>
              </a:rPr>
              <a:t>La démo a révélé trois défauts, tous corrigés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B6F"/>
                </a:solidFill>
                <a:latin typeface="Calibri"/>
              </a:rP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64240" cy="1280160"/>
          </a:xfrm>
          <a:prstGeom prst="roundRect">
            <a:avLst>
              <a:gd name="adj" fmla="val 8000"/>
            </a:avLst>
          </a:prstGeom>
          <a:solidFill>
            <a:srgbClr val="F4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B5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Corrigé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965960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E2B2E"/>
                </a:solidFill>
                <a:latin typeface="Calibri"/>
              </a:rPr>
              <a:t>Ordre de transport non relié pour un régulateur sans rôle FSM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350008"/>
            <a:ext cx="8778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A6B6F"/>
                </a:solidFill>
                <a:latin typeface="Calibri"/>
              </a:rPr>
              <a:t>Une règle Field Service levait une exception. L'ordre est relié dès sa création et les transitions sont isolées. Vérifié en direct sur TRF0001014.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11064240" cy="1280160"/>
          </a:xfrm>
          <a:prstGeom prst="roundRect">
            <a:avLst>
              <a:gd name="adj" fmla="val 8000"/>
            </a:avLst>
          </a:prstGeom>
          <a:solidFill>
            <a:srgbClr val="F4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365760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B5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Corrigé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429000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E2B2E"/>
                </a:solidFill>
                <a:latin typeface="Calibri"/>
              </a:rPr>
              <a:t>ACL de l'application non créées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813048"/>
            <a:ext cx="8778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A6B6F"/>
                </a:solidFill>
                <a:latin typeface="Calibri"/>
              </a:rPr>
              <a:t>Le Fix Script scopé ne pouvait pas créer d'ACL. Réécrit en scope global : 29 ACL créées, 0 échec ; accès vérifié pour chaque profil.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09160"/>
            <a:ext cx="11064240" cy="1280160"/>
          </a:xfrm>
          <a:prstGeom prst="roundRect">
            <a:avLst>
              <a:gd name="adj" fmla="val 8000"/>
            </a:avLst>
          </a:prstGeom>
          <a:solidFill>
            <a:srgbClr val="F4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512064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B5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12064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Corrigé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892040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E2B2E"/>
                </a:solidFill>
                <a:latin typeface="Calibri"/>
              </a:rPr>
              <a:t>Suggestions et vidage du service inactifs dans le formulaire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5276088"/>
            <a:ext cx="8778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A6B6F"/>
                </a:solidFill>
                <a:latin typeface="Calibri"/>
              </a:rPr>
              <a:t>La variable déclencheuse des scripts onChange n'était pas enregistrée par l'API. Écrite côté serveur ; vérifié en direct sur TRF0001017.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3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Prochaines étapes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2286000"/>
            <a:ext cx="457200" cy="457200"/>
          </a:xfrm>
          <a:prstGeom prst="ellipse">
            <a:avLst/>
          </a:prstGeom>
          <a:solidFill>
            <a:srgbClr val="E3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83F3B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Libérer les lits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69748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FE6E2"/>
                </a:solidFill>
                <a:latin typeface="Calibri"/>
              </a:rPr>
              <a:t>Libération automatique en cas d'annulation, table de réservation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3474720"/>
            <a:ext cx="457200" cy="457200"/>
          </a:xfrm>
          <a:prstGeom prst="ellipse">
            <a:avLst/>
          </a:prstGeom>
          <a:solidFill>
            <a:srgbClr val="E3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83F3B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42900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Fluidifier le transport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88620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FE6E2"/>
                </a:solidFill>
                <a:latin typeface="Calibri"/>
              </a:rPr>
              <a:t>Transport et remise en une tâche, compétences SMUR / ambulancier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663440"/>
            <a:ext cx="457200" cy="457200"/>
          </a:xfrm>
          <a:prstGeom prst="ellipse">
            <a:avLst/>
          </a:prstGeom>
          <a:solidFill>
            <a:srgbClr val="E3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83F3B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6177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Passer en workspace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5074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FE6E2"/>
                </a:solidFill>
                <a:latin typeface="Calibri"/>
              </a:rPr>
              <a:t>Back-office UI Builder réutilisant TransfertPortail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